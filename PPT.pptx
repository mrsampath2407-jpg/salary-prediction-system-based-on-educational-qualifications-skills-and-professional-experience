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Kanit Thin"/>
      <p:regular r:id="rId201314"/>
    </p:embeddedFont>
    <p:embeddedFont>
      <p:font typeface="Kanit ExtraLight"/>
      <p:regular r:id="rId201315"/>
    </p:embeddedFont>
    <p:embeddedFont>
      <p:font typeface="Kanit Bold"/>
      <p:regular r:id="rId201316"/>
    </p:embeddedFont>
    <p:embeddedFont>
      <p:font typeface="Kanit ExtraBold"/>
      <p:regular r:id="rId201317"/>
    </p:embeddedFont>
    <p:embeddedFont>
      <p:font typeface="Kanit Black"/>
      <p:regular r:id="rId201318"/>
    </p:embeddedFont>
    <p:embeddedFont>
      <p:font typeface="Kanit Light"/>
      <p:regular r:id="rId201319"/>
    </p:embeddedFont>
    <p:embeddedFont>
      <p:font typeface="Kanit"/>
      <p:regular r:id="rId201320"/>
    </p:embeddedFont>
    <p:embeddedFont>
      <p:font typeface="Kanit Medium"/>
      <p:regular r:id="rId201321"/>
    </p:embeddedFont>
    <p:embeddedFont>
      <p:font typeface="Kanit SemiBold"/>
      <p:regular r:id="rId201322"/>
    </p:embeddedFont>
    <p:embeddedFont>
      <p:font typeface="Martel Sans ExtraLight"/>
      <p:regular r:id="rId201323"/>
    </p:embeddedFont>
    <p:embeddedFont>
      <p:font typeface="Martel Sans Light"/>
      <p:regular r:id="rId201324"/>
    </p:embeddedFont>
    <p:embeddedFont>
      <p:font typeface="Martel Sans"/>
      <p:regular r:id="rId201325"/>
    </p:embeddedFont>
    <p:embeddedFont>
      <p:font typeface="Martel Sans SemiBold"/>
      <p:regular r:id="rId201326"/>
    </p:embeddedFont>
    <p:embeddedFont>
      <p:font typeface="Martel Sans Bold"/>
      <p:regular r:id="rId201327"/>
    </p:embeddedFont>
    <p:embeddedFont>
      <p:font typeface="Martel Sans ExtraBold"/>
      <p:regular r:id="rId201328"/>
    </p:embeddedFont>
    <p:embeddedFont>
      <p:font typeface="Martel Sans Black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2.png"/><Relationship Id="rId11" Type="http://schemas.openxmlformats.org/officeDocument/2006/relationships/image" Target="../media/image-7-3.svg"/><Relationship Id="rId12" Type="http://schemas.openxmlformats.org/officeDocument/2006/relationships/image" Target="../media/image-7-12.png"/><Relationship Id="rId13" Type="http://schemas.openxmlformats.org/officeDocument/2006/relationships/image" Target="../media/image-7-13.svg"/><Relationship Id="rId14" Type="http://schemas.openxmlformats.org/officeDocument/2006/relationships/image" Target="../media/image-7-2.png"/><Relationship Id="rId15" Type="http://schemas.openxmlformats.org/officeDocument/2006/relationships/image" Target="../media/image-7-3.svg"/><Relationship Id="rId16" Type="http://schemas.openxmlformats.org/officeDocument/2006/relationships/image" Target="../media/image-7-16.png"/><Relationship Id="rId17" Type="http://schemas.openxmlformats.org/officeDocument/2006/relationships/image" Target="../media/image-7-17.sv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16286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Salary Prediction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37187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 intelligent platform leveraging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machine learning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predictive analytics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to estimate compensation ranges based on educational qualifications, technical skills, and professional experience.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211785"/>
            <a:ext cx="930027" cy="215354"/>
          </a:xfrm>
          <a:prstGeom prst="roundRect">
            <a:avLst>
              <a:gd name="adj" fmla="val 22119"/>
            </a:avLst>
          </a:prstGeom>
          <a:solidFill>
            <a:srgbClr val="DFECE9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254276"/>
            <a:ext cx="121711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ML-POWERED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925988" y="3211785"/>
            <a:ext cx="1147390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370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11043" y="3254276"/>
            <a:ext cx="143448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HR TECHNOLOGY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144220" y="3211785"/>
            <a:ext cx="1439912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370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29276" y="3254276"/>
            <a:ext cx="172700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CAREER INTELLIGENCE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16210"/>
            <a:ext cx="4722763" cy="7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Challenge of Modern Salary Estimation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96119" y="1357089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3842" y="1474812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Education &amp; Certifications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13842" y="1705273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Degrees, institutions, and certifications create wide salary variance across the same role.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96119" y="2237705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3842" y="2355428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Skills &amp; Experience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3842" y="2585889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Technical skill combinations and years of experience drive compensation beyond job titles.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96119" y="3118321"/>
            <a:ext cx="4722763" cy="628278"/>
          </a:xfrm>
          <a:prstGeom prst="roundRect">
            <a:avLst>
              <a:gd name="adj" fmla="val 7552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3842" y="3236044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Location &amp; Industry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3842" y="3466505"/>
            <a:ext cx="448731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Geographic cost-of-living and sector demand cause significant regional salary gaps.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96119" y="3836566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3842" y="3954289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Market Dynamics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3842" y="4184749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Rapidly evolving trends and talent shortages make historical benchmarks quickly outdated.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Why Traditional Methods Fall Short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266950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Limitations of Manual Approaches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2418829"/>
            <a:ext cx="3986733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Reliance on outdated salary surveys and static benchmarks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Inability to process multi-variable professional profiles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Subjective judgment introduces bias and inconsistency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 real-time adaptation to market shifts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Limited scalability across industries and geographies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496119" y="2956620"/>
            <a:ext cx="3986733" cy="200174"/>
          </a:xfrm>
          <a:prstGeom prst="roundRect">
            <a:avLst>
              <a:gd name="adj" fmla="val 15337"/>
            </a:avLst>
          </a:prstGeom>
          <a:solidFill>
            <a:srgbClr val="DFEC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193" y="3047926"/>
            <a:ext cx="91306" cy="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3574" y="3008709"/>
            <a:ext cx="41334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Organizations need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intelligent predictive systems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that learn from data and continuously improve.</a:t>
            </a:r>
            <a:endParaRPr lang="en-US" sz="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2037"/>
            <a:ext cx="8151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System Architecture Overview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1009129"/>
            <a:ext cx="8151763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Salary Prediction System integrates six core modules into an end-to-end intelligent pipeline — from data ingestion to actionable compensation insights.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1448321"/>
            <a:ext cx="7890644" cy="29609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02209" y="3690462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502299" y="3690462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Salary Engine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10540" y="3690462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ML Regression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518781" y="3690462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94415" y="3690462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User Input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6119" y="4514478"/>
            <a:ext cx="86089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Each module is designed for modularity, allowing independent updates to the ML model, data sources, or UI without disrupting the overall system.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Machine Learning Pipeline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37792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Core Algorithms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489671"/>
            <a:ext cx="3986733" cy="3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Random Forest Regression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handles non-linear feature interactions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XGBoost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gradient boosting for high predictive accuracy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Linear &amp; Ridge Regression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interpretable baseline models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Neural Networks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for complex, high-dimensional profiles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917254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Ensemble methods are used as the primary approach, combining multiple models for robust, generalizable predictions.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4304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Input Features &amp; Data Preprocessing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153641"/>
            <a:ext cx="860896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system analyzes a comprehensive professional profile to generate accurate salary estimates.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489993"/>
            <a:ext cx="261342" cy="2613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901875"/>
            <a:ext cx="4000574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Education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96119" y="2178248"/>
            <a:ext cx="400057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Degree level, institution tier, and field of study.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7233" y="1489993"/>
            <a:ext cx="261342" cy="2613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7233" y="1901875"/>
            <a:ext cx="400064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Technical Skills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647233" y="2178248"/>
            <a:ext cx="400064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Programming languages, tools, frameworks, and certifications.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620045"/>
            <a:ext cx="261342" cy="2613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031927"/>
            <a:ext cx="4000574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Experience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496119" y="3308300"/>
            <a:ext cx="400057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Years of experience, seniority level, and career trajectory.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7233" y="2620045"/>
            <a:ext cx="261342" cy="2613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47233" y="3031927"/>
            <a:ext cx="400064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Job Role &amp; Industry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4647233" y="3308300"/>
            <a:ext cx="400064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Job title, function, and industry sector classification.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750097"/>
            <a:ext cx="261342" cy="26134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6119" y="4161979"/>
            <a:ext cx="4000574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Location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496119" y="4438352"/>
            <a:ext cx="400057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City, region, and cost-of-living index for geographic adjustment.</a:t>
            </a:r>
            <a:endParaRPr lang="en-US" sz="10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7233" y="3750097"/>
            <a:ext cx="261342" cy="26134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47233" y="4161979"/>
            <a:ext cx="400064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Market Trends</a:t>
            </a:r>
            <a:endParaRPr lang="en-US" sz="1250" dirty="0"/>
          </a:p>
        </p:txBody>
      </p:sp>
      <p:sp>
        <p:nvSpPr>
          <p:cNvPr id="21" name="Text 13"/>
          <p:cNvSpPr/>
          <p:nvPr/>
        </p:nvSpPr>
        <p:spPr>
          <a:xfrm>
            <a:off x="4647233" y="4438352"/>
            <a:ext cx="400064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Real-time labor market signals and demand indicators.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2151"/>
            <a:ext cx="4722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Features by User Role</a:t>
            </a:r>
            <a:endParaRPr lang="en-US" sz="2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947291"/>
            <a:ext cx="4722763" cy="867817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86523" y="1291456"/>
            <a:ext cx="179412" cy="17941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518720" y="1081162"/>
            <a:ext cx="399529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Job Seekers</a:t>
            </a:r>
            <a:endParaRPr lang="en-US" sz="1150" dirty="0"/>
          </a:p>
        </p:txBody>
      </p:sp>
      <p:sp>
        <p:nvSpPr>
          <p:cNvPr id="7" name="Text 2"/>
          <p:cNvSpPr/>
          <p:nvPr/>
        </p:nvSpPr>
        <p:spPr>
          <a:xfrm>
            <a:off x="4518720" y="1328514"/>
            <a:ext cx="399529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Enter profile details, receive predicted salary ranges, and identify skill gaps to improve market value.</a:t>
            </a:r>
            <a:endParaRPr lang="en-US" sz="9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1916013"/>
            <a:ext cx="4722763" cy="867817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86523" y="2260178"/>
            <a:ext cx="179412" cy="179412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518720" y="2049884"/>
            <a:ext cx="399529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Recruiters &amp; HR</a:t>
            </a:r>
            <a:endParaRPr lang="en-US" sz="1150" dirty="0"/>
          </a:p>
        </p:txBody>
      </p:sp>
      <p:sp>
        <p:nvSpPr>
          <p:cNvPr id="11" name="Text 4"/>
          <p:cNvSpPr/>
          <p:nvPr/>
        </p:nvSpPr>
        <p:spPr>
          <a:xfrm>
            <a:off x="4518720" y="2297237"/>
            <a:ext cx="399529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Benchmark offers, compare candidates, and build data-driven compensation strategies.</a:t>
            </a:r>
            <a:endParaRPr lang="en-US" sz="9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25119" y="2884736"/>
            <a:ext cx="4722763" cy="867817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086523" y="3228901"/>
            <a:ext cx="179412" cy="179412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4518720" y="3018606"/>
            <a:ext cx="399529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Career Counselors</a:t>
            </a:r>
            <a:endParaRPr lang="en-US" sz="1150" dirty="0"/>
          </a:p>
        </p:txBody>
      </p:sp>
      <p:sp>
        <p:nvSpPr>
          <p:cNvPr id="15" name="Text 6"/>
          <p:cNvSpPr/>
          <p:nvPr/>
        </p:nvSpPr>
        <p:spPr>
          <a:xfrm>
            <a:off x="4518720" y="3265959"/>
            <a:ext cx="399529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Guide clients with salary trend comparisons across industries, roles, and locations.</a:t>
            </a:r>
            <a:endParaRPr lang="en-US" sz="900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925119" y="3853458"/>
            <a:ext cx="4722763" cy="867817"/>
          </a:xfrm>
          <a:prstGeom prst="rect">
            <a:avLst/>
          </a:prstGeom>
        </p:spPr>
      </p:pic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086523" y="4197623"/>
            <a:ext cx="179412" cy="179412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4518720" y="3987329"/>
            <a:ext cx="399529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Administrators</a:t>
            </a:r>
            <a:endParaRPr lang="en-US" sz="1150" dirty="0"/>
          </a:p>
        </p:txBody>
      </p:sp>
      <p:sp>
        <p:nvSpPr>
          <p:cNvPr id="19" name="Text 8"/>
          <p:cNvSpPr/>
          <p:nvPr/>
        </p:nvSpPr>
        <p:spPr>
          <a:xfrm>
            <a:off x="4518720" y="4234681"/>
            <a:ext cx="399529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Manage users, monitor model performance, update datasets, and configure system parameters.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4934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Implementation Methodology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575867"/>
            <a:ext cx="51832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Flow &amp; Processing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31863"/>
            <a:ext cx="5183237" cy="22351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4927" y="3743106"/>
            <a:ext cx="1175886" cy="146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Model Training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4927" y="3225716"/>
            <a:ext cx="1175886" cy="146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 Selection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4927" y="2713552"/>
            <a:ext cx="1175886" cy="146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Preprocessing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4927" y="2196162"/>
            <a:ext cx="1175886" cy="146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Collection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13772" y="1289149"/>
            <a:ext cx="26387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Quality &amp; Reliability Standards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13772" y="1628998"/>
            <a:ext cx="2638797" cy="2924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Scalability</a:t>
            </a:r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cloud-ready architecture supporting millions of predictions</a:t>
            </a:r>
            <a:endParaRPr lang="en-US" sz="1050" dirty="0"/>
          </a:p>
          <a:p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Security</a:t>
            </a:r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encrypted data storage, OAuth2 authentication, role-based access</a:t>
            </a:r>
            <a:endParaRPr lang="en-US" sz="1050" dirty="0"/>
          </a:p>
          <a:p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Accuracy</a:t>
            </a:r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evaluated via RMSE, MAE, and R² on held-out test sets</a:t>
            </a:r>
            <a:endParaRPr lang="en-US" sz="1050" dirty="0"/>
          </a:p>
          <a:p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Interpretability</a:t>
            </a:r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SHAP values explain feature contributions per prediction</a:t>
            </a:r>
            <a:endParaRPr lang="en-US" sz="1050" dirty="0"/>
          </a:p>
          <a:p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Adaptability</a:t>
            </a:r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periodic retraining to reflect evolving market conditions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0051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Benefits &amp; Business Impact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228576"/>
            <a:ext cx="4003104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35%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496119" y="1804020"/>
            <a:ext cx="400310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Faster Hiring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96119" y="2074515"/>
            <a:ext cx="400310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Reduction in time-to-offer with data-backed salary benchmarks.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44703" y="1228576"/>
            <a:ext cx="4003179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90%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4644703" y="1804020"/>
            <a:ext cx="40031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Prediction Accuracy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644703" y="2074515"/>
            <a:ext cx="40031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Target R² score on validated test datasets across major job categories.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6119" y="2763441"/>
            <a:ext cx="4003104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3x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496119" y="3338885"/>
            <a:ext cx="400310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Better Decisions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6119" y="3609380"/>
            <a:ext cx="400310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Improvement in compensation decision confidence for HR teams.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44703" y="2763441"/>
            <a:ext cx="4003179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60%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4644703" y="3338885"/>
            <a:ext cx="40031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Cost Savings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44703" y="3609380"/>
            <a:ext cx="40031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Estimated reduction in over/under-hiring costs through accurate salary planning.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6119" y="4132213"/>
            <a:ext cx="8151763" cy="481236"/>
          </a:xfrm>
          <a:prstGeom prst="roundRect">
            <a:avLst>
              <a:gd name="adj" fmla="val 11213"/>
            </a:avLst>
          </a:prstGeom>
          <a:solidFill>
            <a:srgbClr val="B6FCB8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57" y="4313634"/>
            <a:ext cx="160586" cy="12843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13581" y="4280669"/>
            <a:ext cx="806306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system empowers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job seekers, recruiters, and organizations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with transparent, data-driven compensation intelligence.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49089"/>
            <a:ext cx="4722763" cy="6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Road Ahead: Future Enhancements</a:t>
            </a:r>
            <a:endParaRPr lang="en-US" sz="2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1271067"/>
            <a:ext cx="553715" cy="7618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36303" y="1381795"/>
            <a:ext cx="408257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Deep Learning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136303" y="1606674"/>
            <a:ext cx="4082579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Transformer-based models for richer profile understanding and higher accuracy.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032918"/>
            <a:ext cx="553715" cy="6645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36303" y="2143646"/>
            <a:ext cx="408257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Real-Time Data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1136303" y="2368525"/>
            <a:ext cx="4082579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Live labor market API integration for up-to-the-minute salary signals.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697435"/>
            <a:ext cx="553715" cy="76185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36303" y="2808163"/>
            <a:ext cx="408257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Explainable AI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1136303" y="3033043"/>
            <a:ext cx="4082579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Transparent prediction reasoning to build user trust and regulatory compliance.</a:t>
            </a:r>
            <a:endParaRPr lang="en-US" sz="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459287"/>
            <a:ext cx="553715" cy="66451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36303" y="3570015"/>
            <a:ext cx="408257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Mobile &amp; Cloud</a:t>
            </a:r>
            <a:endParaRPr lang="en-US" sz="1050" dirty="0"/>
          </a:p>
        </p:txBody>
      </p:sp>
      <p:sp>
        <p:nvSpPr>
          <p:cNvPr id="15" name="Text 8"/>
          <p:cNvSpPr/>
          <p:nvPr/>
        </p:nvSpPr>
        <p:spPr>
          <a:xfrm>
            <a:off x="1136303" y="3794894"/>
            <a:ext cx="4082579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Native mobile apps and cloud deployment for global, on-the-go accessibility.</a:t>
            </a:r>
            <a:endParaRPr lang="en-US" sz="850" dirty="0"/>
          </a:p>
        </p:txBody>
      </p:sp>
      <p:sp>
        <p:nvSpPr>
          <p:cNvPr id="16" name="Text 9"/>
          <p:cNvSpPr/>
          <p:nvPr/>
        </p:nvSpPr>
        <p:spPr>
          <a:xfrm>
            <a:off x="496119" y="4221138"/>
            <a:ext cx="4722763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Future phases will also introduce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personalized career recommendations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skill gap analysis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job matching integration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and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continuous model learning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to keep predictions aligned with a rapidly changing employment landscape.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2026-07-28T05:36:53Z</dcterms:created>
  <dcterms:modified xsi:type="dcterms:W3CDTF">2026-07-28T05:36:53Z</dcterms:modified>
</cp:coreProperties>
</file>